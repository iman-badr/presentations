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40" r:id="rId3"/>
    <p:sldId id="341" r:id="rId4"/>
    <p:sldId id="342" r:id="rId5"/>
    <p:sldId id="270" r:id="rId6"/>
    <p:sldId id="260" r:id="rId7"/>
    <p:sldId id="257" r:id="rId8"/>
    <p:sldId id="276" r:id="rId9"/>
    <p:sldId id="269" r:id="rId10"/>
    <p:sldId id="267" r:id="rId11"/>
    <p:sldId id="33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80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03" y="3185926"/>
            <a:ext cx="8229600" cy="1143000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Developing </a:t>
            </a:r>
            <a:r>
              <a:rPr dirty="0">
                <a:latin typeface="Algerian" panose="04020705040A02060702" pitchFamily="82" charset="0"/>
              </a:rPr>
              <a:t>AI Agent</a:t>
            </a:r>
            <a:r>
              <a:rPr lang="en-US" dirty="0">
                <a:latin typeface="Algerian" panose="04020705040A02060702" pitchFamily="82" charset="0"/>
              </a:rPr>
              <a:t>-</a:t>
            </a:r>
            <a:r>
              <a:rPr dirty="0">
                <a:latin typeface="Algerian" panose="04020705040A02060702" pitchFamily="82" charset="0"/>
              </a:rPr>
              <a:t> </a:t>
            </a:r>
            <a:r>
              <a:rPr lang="en-US" dirty="0">
                <a:latin typeface="Algerian" panose="04020705040A02060702" pitchFamily="82" charset="0"/>
              </a:rPr>
              <a:t>Application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as a healthcare</a:t>
            </a:r>
            <a:br>
              <a:rPr lang="en-US" dirty="0">
                <a:latin typeface="Algerian" panose="04020705040A02060702" pitchFamily="82" charset="0"/>
              </a:rPr>
            </a:br>
            <a:r>
              <a:rPr dirty="0">
                <a:latin typeface="Algerian" panose="04020705040A02060702" pitchFamily="82" charset="0"/>
              </a:rPr>
              <a:t>Accreditation</a:t>
            </a:r>
            <a:r>
              <a:rPr lang="en-US" dirty="0">
                <a:latin typeface="Algerian" panose="04020705040A02060702" pitchFamily="82" charset="0"/>
              </a:rPr>
              <a:t> consultant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sz="3600" dirty="0">
                <a:latin typeface="Algerian" panose="04020705040A02060702" pitchFamily="82" charset="0"/>
              </a:rPr>
              <a:t>by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sz="3200" dirty="0" err="1">
                <a:latin typeface="Algerian" panose="04020705040A02060702" pitchFamily="82" charset="0"/>
              </a:rPr>
              <a:t>Dr.Gihan</a:t>
            </a:r>
            <a:r>
              <a:rPr lang="en-US" sz="3200" dirty="0">
                <a:latin typeface="Algerian" panose="04020705040A02060702" pitchFamily="82" charset="0"/>
              </a:rPr>
              <a:t> Abdelhamid Mansour</a:t>
            </a: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3200" dirty="0">
                <a:latin typeface="Algerian" panose="04020705040A02060702" pitchFamily="82" charset="0"/>
              </a:rPr>
              <a:t>supervised by</a:t>
            </a: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3200" dirty="0" err="1">
                <a:latin typeface="Algerian" panose="04020705040A02060702" pitchFamily="82" charset="0"/>
              </a:rPr>
              <a:t>Dr.Manal</a:t>
            </a:r>
            <a:r>
              <a:rPr lang="en-US" sz="3200" dirty="0">
                <a:latin typeface="Algerian" panose="04020705040A02060702" pitchFamily="82" charset="0"/>
              </a:rPr>
              <a:t> </a:t>
            </a:r>
            <a:r>
              <a:rPr lang="en-US" sz="3200" dirty="0" err="1">
                <a:latin typeface="Algerian" panose="04020705040A02060702" pitchFamily="82" charset="0"/>
              </a:rPr>
              <a:t>Elmasry</a:t>
            </a: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3200" dirty="0" err="1">
                <a:latin typeface="Algerian" panose="04020705040A02060702" pitchFamily="82" charset="0"/>
              </a:rPr>
              <a:t>Dr.Abeer</a:t>
            </a:r>
            <a:r>
              <a:rPr lang="en-US" sz="3200" dirty="0">
                <a:latin typeface="Algerian" panose="04020705040A02060702" pitchFamily="82" charset="0"/>
              </a:rPr>
              <a:t> </a:t>
            </a:r>
            <a:r>
              <a:rPr lang="en-US" sz="3200" dirty="0" err="1">
                <a:latin typeface="Algerian" panose="04020705040A02060702" pitchFamily="82" charset="0"/>
              </a:rPr>
              <a:t>Eldessoki</a:t>
            </a:r>
            <a:r>
              <a:rPr lang="en-US" sz="3200" dirty="0">
                <a:latin typeface="Algerian" panose="04020705040A02060702" pitchFamily="82" charset="0"/>
              </a:rPr>
              <a:t> 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AE45E977-6823-48EF-9414-2678CC377E6E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26EDC3-E108-498B-A172-075CEF72C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9C95F3-1DE3-455F-B743-A8DC3A1CF8F7}"/>
              </a:ext>
            </a:extLst>
          </p:cNvPr>
          <p:cNvSpPr txBox="1"/>
          <p:nvPr/>
        </p:nvSpPr>
        <p:spPr>
          <a:xfrm>
            <a:off x="2626659" y="672353"/>
            <a:ext cx="42761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Researcher Bio 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AD417574-EFFA-4483-9EDB-C7D504A2A2C3}"/>
              </a:ext>
            </a:extLst>
          </p:cNvPr>
          <p:cNvSpPr/>
          <p:nvPr/>
        </p:nvSpPr>
        <p:spPr>
          <a:xfrm>
            <a:off x="70665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569B6-DC76-4D63-B69D-5C8269E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046" y="106624"/>
            <a:ext cx="1085182" cy="1066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81948F-BE92-4769-AC25-079083E601E3}"/>
              </a:ext>
            </a:extLst>
          </p:cNvPr>
          <p:cNvSpPr txBox="1"/>
          <p:nvPr/>
        </p:nvSpPr>
        <p:spPr>
          <a:xfrm>
            <a:off x="509628" y="1687354"/>
            <a:ext cx="85102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Dr.Gihan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Abdelhamid Mansour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Pharmacist at EDA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Technical member at the general administration of patient safety (MOHP)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 informatics Diploma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TQM HC / excellence AUC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Member in the Egyptian Health Informatics Association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9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41CBD7-AA58-44D5-8591-CBCEF65AD165}"/>
              </a:ext>
            </a:extLst>
          </p:cNvPr>
          <p:cNvSpPr txBox="1"/>
          <p:nvPr/>
        </p:nvSpPr>
        <p:spPr>
          <a:xfrm>
            <a:off x="510988" y="2174816"/>
            <a:ext cx="8426824" cy="4017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 facilities seeking accreditation face numerous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including inconsistent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standards,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access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experts, and varying staff readiness.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Traditional consulting is time-consuming and resource-intensive, which delays compliance and impacts patient safety outcomes.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critical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a 24/7 intelligent tool that provides evidence-based guidance to support healthcare facilities in meeting accreditation requirements.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C95F3-1DE3-455F-B743-A8DC3A1CF8F7}"/>
              </a:ext>
            </a:extLst>
          </p:cNvPr>
          <p:cNvSpPr txBox="1"/>
          <p:nvPr/>
        </p:nvSpPr>
        <p:spPr>
          <a:xfrm>
            <a:off x="2222622" y="313596"/>
            <a:ext cx="56773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  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AD417574-EFFA-4483-9EDB-C7D504A2A2C3}"/>
              </a:ext>
            </a:extLst>
          </p:cNvPr>
          <p:cNvSpPr/>
          <p:nvPr/>
        </p:nvSpPr>
        <p:spPr>
          <a:xfrm>
            <a:off x="70665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569B6-DC76-4D63-B69D-5C8269E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046" y="106624"/>
            <a:ext cx="1085182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9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organizations preparing for accreditation encounter significant challenges: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Inconsistent interpretation of standards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access to expert consultants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Time-consuming traditional consultation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CA91AF21-D405-47E7-903A-807F545FF568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93527DD-DF8D-471E-B309-5E27CD84A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15588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aim is to 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develop an advanced AI-driven quality and accreditation consultant capable of , context-</a:t>
            </a:r>
            <a:r>
              <a:rPr lang="en-US" sz="2800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specific guidance 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based on </a:t>
            </a:r>
            <a:r>
              <a:rPr lang="en-US" sz="2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specific 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accreditation standards, approved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policies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and scientific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references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solution will enhance organizational readiness,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reduce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consultancy </a:t>
            </a:r>
            <a:r>
              <a:rPr lang="en-US" sz="2800" b="1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costs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and strengthen patient safety culture.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7F11BD9F-13CD-4016-9082-00F033D64C4B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4BB2B5-F98A-4518-B300-4C64F2D7B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5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9815"/>
            <a:ext cx="8229600" cy="1143000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Develop an AI agent trained on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validated policies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accreditation standards, and scientific guidelines.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Enable healthcare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staff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to inquire about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compliance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requirements, survey readiness, and best practices.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Provide automated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Gap Assessments 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recommended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Corrective Actions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Ensure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reliability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and alignment with current accreditation frameworks.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21CCC6F2-3CB0-401B-B2C4-7F705CD46FD3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5D7C603-7F3D-4CE4-9CBD-D4D7C6B4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successfully design, develop, train, and launch a user-friendly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Application-based AI Agent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capable of providing instant, evidence-based consultative guidance on a limited set of healthcare accreditation standards to hospitals , quality teams and accreditation consultants.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7F11BD9F-13CD-4016-9082-00F033D64C4B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4BB2B5-F98A-4518-B300-4C64F2D7B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9C95F3-1DE3-455F-B743-A8DC3A1CF8F7}"/>
              </a:ext>
            </a:extLst>
          </p:cNvPr>
          <p:cNvSpPr txBox="1"/>
          <p:nvPr/>
        </p:nvSpPr>
        <p:spPr>
          <a:xfrm>
            <a:off x="1532965" y="318410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 Validity /Reliability 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AD417574-EFFA-4483-9EDB-C7D504A2A2C3}"/>
              </a:ext>
            </a:extLst>
          </p:cNvPr>
          <p:cNvSpPr/>
          <p:nvPr/>
        </p:nvSpPr>
        <p:spPr>
          <a:xfrm>
            <a:off x="70665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569B6-DC76-4D63-B69D-5C8269E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046" y="106624"/>
            <a:ext cx="1085182" cy="1066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5F4B8-0F1E-44FB-B779-9E6276337F5E}"/>
              </a:ext>
            </a:extLst>
          </p:cNvPr>
          <p:cNvSpPr txBox="1"/>
          <p:nvPr/>
        </p:nvSpPr>
        <p:spPr>
          <a:xfrm>
            <a:off x="161363" y="3554985"/>
            <a:ext cx="61408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r>
              <a:rPr lang="en-US" sz="2000" b="1" u="sng" dirty="0"/>
              <a:t>Content Validity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 model trained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Approved accreditation standards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Validated hospital policies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Evidence-based scientific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Expert review by accreditation specialists.</a:t>
            </a:r>
          </a:p>
          <a:p>
            <a:r>
              <a:rPr lang="en-US" sz="2000" b="1" dirty="0"/>
              <a:t>Continuous Validation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Periodic content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Feedback-driven refinement.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A9D26E-B479-414C-AB72-FD72DD684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12" y="2248834"/>
            <a:ext cx="73518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included quality professionals and healthcare staff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focused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 of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 to accreditation standards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applicability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D45E4-0261-4AAC-B3DC-C1BEA4A2DC47}"/>
              </a:ext>
            </a:extLst>
          </p:cNvPr>
          <p:cNvSpPr txBox="1"/>
          <p:nvPr/>
        </p:nvSpPr>
        <p:spPr>
          <a:xfrm>
            <a:off x="116541" y="15143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Tool Validation Strategy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84204-F65F-4156-9D1C-6823FC2D1A35}"/>
              </a:ext>
            </a:extLst>
          </p:cNvPr>
          <p:cNvSpPr txBox="1"/>
          <p:nvPr/>
        </p:nvSpPr>
        <p:spPr>
          <a:xfrm>
            <a:off x="161363" y="1881574"/>
            <a:ext cx="5961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Pilot implementation conducted on 10%  staff </a:t>
            </a:r>
          </a:p>
        </p:txBody>
      </p:sp>
    </p:spTree>
    <p:extLst>
      <p:ext uri="{BB962C8B-B14F-4D97-AF65-F5344CB8AC3E}">
        <p14:creationId xmlns:p14="http://schemas.microsoft.com/office/powerpoint/2010/main" val="124506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0415-542F-4FCB-92FC-F4BAB4FC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AA16-4CBD-4B15-8938-4927DF0E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17859" cy="4983162"/>
          </a:xfrm>
        </p:spPr>
        <p:txBody>
          <a:bodyPr>
            <a:norm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Final production-ready AI agent tool :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fully functional, secure, and user-friendly Web Application interface.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backend system ensuring accurate citation and reference tracing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-Accreditation standards and policies used for training are up to date.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Periodic updates 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of accreditation content by SME.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Scalable model for regional and international frameworks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777B0A24-7487-4825-81CF-C6E645DA1A18}"/>
              </a:ext>
            </a:extLst>
          </p:cNvPr>
          <p:cNvSpPr/>
          <p:nvPr/>
        </p:nvSpPr>
        <p:spPr>
          <a:xfrm>
            <a:off x="152997" y="61801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99B14DA-62A6-4FF2-94C0-F7020A53F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3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9814"/>
            <a:ext cx="8229600" cy="1143000"/>
          </a:xfrm>
        </p:spPr>
        <p:txBody>
          <a:bodyPr/>
          <a:lstStyle/>
          <a:p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≥ 90%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in responding to accreditation-related queries.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≥ 85% positive user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satisfaction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Reduction in accreditation preparation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time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by ≥30%.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Seamless integration with hospital digital systems.</a:t>
            </a:r>
          </a:p>
          <a:p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6ED3EED1-918D-47EF-944C-6B8302E4F9E4}"/>
              </a:ext>
            </a:extLst>
          </p:cNvPr>
          <p:cNvSpPr/>
          <p:nvPr/>
        </p:nvSpPr>
        <p:spPr>
          <a:xfrm>
            <a:off x="152997" y="106624"/>
            <a:ext cx="1361440" cy="1160780"/>
          </a:xfrm>
          <a:custGeom>
            <a:avLst/>
            <a:gdLst/>
            <a:ahLst/>
            <a:cxnLst/>
            <a:rect l="l" t="t" r="r" b="b"/>
            <a:pathLst>
              <a:path w="5058074" h="4612132">
                <a:moveTo>
                  <a:pt x="0" y="0"/>
                </a:moveTo>
                <a:lnTo>
                  <a:pt x="5058074" y="0"/>
                </a:lnTo>
                <a:lnTo>
                  <a:pt x="5058074" y="4612133"/>
                </a:lnTo>
                <a:lnTo>
                  <a:pt x="0" y="4612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825AB38-AB10-439F-A7D0-2A7C2701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41" y="106623"/>
            <a:ext cx="1084262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31B3-235E-D871-1E34-F8B6F6B0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5E5823-98E2-2770-0CE5-976B6C9D45D9}"/>
              </a:ext>
            </a:extLst>
          </p:cNvPr>
          <p:cNvSpPr txBox="1"/>
          <p:nvPr/>
        </p:nvSpPr>
        <p:spPr>
          <a:xfrm>
            <a:off x="1238250" y="1316883"/>
            <a:ext cx="72675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629" rtl="1">
              <a:spcBef>
                <a:spcPct val="0"/>
              </a:spcBef>
              <a:defRPr/>
            </a:pPr>
            <a:r>
              <a:rPr lang="en-US" sz="13500" b="1" dirty="0">
                <a:solidFill>
                  <a:srgbClr val="008080"/>
                </a:solidFill>
                <a:latin typeface="MV Boli" panose="02000500030200090000" pitchFamily="2" charset="0"/>
                <a:ea typeface="+mj-ea"/>
                <a:cs typeface="MV Boli" panose="02000500030200090000" pitchFamily="2" charset="0"/>
              </a:rPr>
              <a:t>Thank</a:t>
            </a:r>
            <a:r>
              <a:rPr lang="en-US" sz="13500" b="1" dirty="0">
                <a:solidFill>
                  <a:schemeClr val="accent1">
                    <a:lumMod val="50000"/>
                  </a:schemeClr>
                </a:solidFill>
                <a:latin typeface="MV Boli" panose="02000500030200090000" pitchFamily="2" charset="0"/>
                <a:ea typeface="+mj-ea"/>
                <a:cs typeface="MV Boli" panose="02000500030200090000" pitchFamily="2" charset="0"/>
              </a:rPr>
              <a:t> </a:t>
            </a:r>
            <a:r>
              <a:rPr lang="en-US" sz="13500" b="1" dirty="0">
                <a:solidFill>
                  <a:srgbClr val="008080"/>
                </a:solidFill>
                <a:latin typeface="MV Boli" panose="02000500030200090000" pitchFamily="2" charset="0"/>
                <a:ea typeface="+mj-ea"/>
                <a:cs typeface="MV Boli" panose="02000500030200090000" pitchFamily="2" charset="0"/>
              </a:rPr>
              <a:t>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F2C40C-B9C4-4AFE-B51B-E3C462890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0"/>
            <a:ext cx="9093200" cy="67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09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491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Calibri</vt:lpstr>
      <vt:lpstr>MV Boli</vt:lpstr>
      <vt:lpstr>Times New Roman</vt:lpstr>
      <vt:lpstr>Wingdings</vt:lpstr>
      <vt:lpstr>Office Theme</vt:lpstr>
      <vt:lpstr>Developing AI Agent- Application as a healthcare Accreditation consultant by Dr.Gihan Abdelhamid Mansour supervised by Dr.Manal Elmasry Dr.Abeer Eldessoki </vt:lpstr>
      <vt:lpstr>PowerPoint Presentation</vt:lpstr>
      <vt:lpstr>PowerPoint Presentation</vt:lpstr>
      <vt:lpstr>Problem Statement</vt:lpstr>
      <vt:lpstr>Aim of the project</vt:lpstr>
      <vt:lpstr>Specific  Objectives</vt:lpstr>
      <vt:lpstr>Project Goal</vt:lpstr>
      <vt:lpstr>PowerPoint Presentation</vt:lpstr>
      <vt:lpstr>Expected Outcomes </vt:lpstr>
      <vt:lpstr>Expected Outcomes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for Healthcare Quality &amp; Accreditation</dc:title>
  <dc:subject/>
  <dc:creator>Lenovo</dc:creator>
  <cp:keywords/>
  <dc:description>generated using python-pptx</dc:description>
  <cp:lastModifiedBy>Gihan Abdelhamed Mansour</cp:lastModifiedBy>
  <cp:revision>25</cp:revision>
  <dcterms:created xsi:type="dcterms:W3CDTF">2013-01-27T09:14:16Z</dcterms:created>
  <dcterms:modified xsi:type="dcterms:W3CDTF">2026-02-15T15:52:29Z</dcterms:modified>
  <cp:category/>
</cp:coreProperties>
</file>